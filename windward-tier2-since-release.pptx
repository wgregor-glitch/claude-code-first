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0" i="0">
                <a:solidFill>
                  <a:srgbClr val="0A1726"/>
                </a:solidFill>
                <a:latin typeface="Archivo"/>
              </a:rPr>
              <a:t>Windward Tier 2 alerts since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 i="1">
                <a:solidFill>
                  <a:srgbClr val="6187ED"/>
                </a:solidFill>
                <a:latin typeface="Noto Sans"/>
              </a:rPr>
              <a:t>First 27 hours: 105 alerts, two event types, 13 bodies of water — no Tier 2 existed before Oct 12</a:t>
            </a:r>
          </a:p>
        </p:txBody>
      </p:sp>
      <p:pic>
        <p:nvPicPr>
          <p:cNvPr id="4" name="Picture 3" descr="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0"/>
            <a:ext cx="1569631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6400800"/>
            <a:ext cx="5788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B99A2"/>
                </a:solidFill>
                <a:latin typeface="Noto Sans"/>
              </a:rPr>
              <a:t>Dataminr® Proprietary Information. ©2026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44768"/>
            <a:ext cx="109115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B99A2"/>
                </a:solidFill>
                <a:latin typeface="Noto Sans"/>
              </a:rPr>
              <a:t>Sources: Dataminr EDW — PROD_AN.EDW.FACT_ALERT, Windward source (MDS V3), 2026-10-12 10:48 to 2026-10-13 14:00 UTC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0" i="0">
                <a:solidFill>
                  <a:srgbClr val="6187ED"/>
                </a:solidFill>
                <a:latin typeface="Archivo"/>
              </a:rPr>
              <a:t>105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56231"/>
            <a:ext cx="199339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0A1726"/>
                </a:solidFill>
                <a:latin typeface="Noto Sans"/>
              </a:rPr>
              <a:t>Tier 2 alerts since release</a:t>
            </a:r>
          </a:p>
          <a:p>
            <a:pPr>
              <a:spcBef>
                <a:spcPts val="200"/>
              </a:spcBef>
            </a:pPr>
            <a:r>
              <a:rPr sz="850" b="0" i="0">
                <a:solidFill>
                  <a:srgbClr val="575D67"/>
                </a:solidFill>
                <a:latin typeface="Noto Sans"/>
              </a:rPr>
              <a:t>Oct 12, 10:48 UTC onward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719072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1051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0" i="0">
                <a:solidFill>
                  <a:srgbClr val="6187ED"/>
                </a:solidFill>
                <a:latin typeface="Archivo"/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9864" y="1856231"/>
            <a:ext cx="199339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0A1726"/>
                </a:solidFill>
                <a:latin typeface="Noto Sans"/>
              </a:rPr>
              <a:t>are Ship to Ship</a:t>
            </a:r>
          </a:p>
          <a:p>
            <a:pPr>
              <a:spcBef>
                <a:spcPts val="200"/>
              </a:spcBef>
            </a:pPr>
            <a:r>
              <a:rPr sz="850" b="0" i="0">
                <a:solidFill>
                  <a:srgbClr val="575D67"/>
                </a:solidFill>
                <a:latin typeface="Noto Sans"/>
              </a:rPr>
              <a:t>79 of 105; Dark Activity is the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719072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81051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0" i="0">
                <a:solidFill>
                  <a:srgbClr val="6187ED"/>
                </a:solidFill>
                <a:latin typeface="Archivo"/>
              </a:rPr>
              <a:t>69%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8" y="1856231"/>
            <a:ext cx="199339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0A1726"/>
                </a:solidFill>
                <a:latin typeface="Noto Sans"/>
              </a:rPr>
              <a:t>concentrated in top 3 waters</a:t>
            </a:r>
          </a:p>
          <a:p>
            <a:pPr>
              <a:spcBef>
                <a:spcPts val="200"/>
              </a:spcBef>
            </a:pPr>
            <a:r>
              <a:rPr sz="850" b="0" i="0">
                <a:solidFill>
                  <a:srgbClr val="575D67"/>
                </a:solidFill>
                <a:latin typeface="Noto Sans"/>
              </a:rPr>
              <a:t>Marmara, E. Med, Gulf of Finland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52928"/>
            <a:ext cx="3931920" cy="310896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46320" y="2852928"/>
            <a:ext cx="6702552" cy="310896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03580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0A1726"/>
                </a:solidFill>
                <a:latin typeface="Archivo"/>
              </a:rPr>
              <a:t>Event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035808"/>
            <a:ext cx="6245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0A1726"/>
                </a:solidFill>
                <a:latin typeface="Archivo"/>
              </a:rPr>
              <a:t>Bodies of 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747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0A1726"/>
                </a:solidFill>
                <a:latin typeface="Noto Sans"/>
              </a:rPr>
              <a:t>Ship to 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747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75D67"/>
                </a:solidFill>
                <a:latin typeface="Noto Sans"/>
              </a:rPr>
              <a:t>79   75.2%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721608"/>
            <a:ext cx="3474720" cy="155448"/>
          </a:xfrm>
          <a:prstGeom prst="roundRect">
            <a:avLst>
              <a:gd name="adj" fmla="val 6000"/>
            </a:avLst>
          </a:prstGeom>
          <a:solidFill>
            <a:srgbClr val="C5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721608"/>
            <a:ext cx="3474720" cy="155448"/>
          </a:xfrm>
          <a:prstGeom prst="roundRect">
            <a:avLst>
              <a:gd name="adj" fmla="val 6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133088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0A1726"/>
                </a:solidFill>
                <a:latin typeface="Noto Sans"/>
              </a:rPr>
              <a:t>Dark 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33088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75D67"/>
                </a:solidFill>
                <a:latin typeface="Noto Sans"/>
              </a:rPr>
              <a:t>26   24.8%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379976"/>
            <a:ext cx="3474720" cy="155448"/>
          </a:xfrm>
          <a:prstGeom prst="roundRect">
            <a:avLst>
              <a:gd name="adj" fmla="val 6000"/>
            </a:avLst>
          </a:prstGeom>
          <a:solidFill>
            <a:srgbClr val="C5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4379976"/>
            <a:ext cx="1143578" cy="155448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09744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>
                <a:solidFill>
                  <a:srgbClr val="0A1726"/>
                </a:solidFill>
                <a:latin typeface="Noto Sans"/>
              </a:rPr>
              <a:t>Area Visit does not appear in Tier 2.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575D67"/>
                </a:solidFill>
                <a:latin typeface="Noto Sans"/>
              </a:rPr>
              <a:t>It is Tier 1 only (549 alerts). Tier 2 is a narrower, higher-conviction subset.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49823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 i="0">
                <a:solidFill>
                  <a:srgbClr val="575D67"/>
                </a:solidFill>
                <a:latin typeface="Noto Sans"/>
              </a:rPr>
              <a:t>Same window, Tier 1: </a:t>
            </a:r>
            <a:r>
              <a:rPr sz="950" b="1" i="0">
                <a:solidFill>
                  <a:srgbClr val="0A1726"/>
                </a:solidFill>
                <a:latin typeface="Noto Sans"/>
              </a:rPr>
              <a:t>1,134 alerts</a:t>
            </a:r>
            <a:r>
              <a:rPr sz="950" b="0" i="0">
                <a:solidFill>
                  <a:srgbClr val="575D67"/>
                </a:solidFill>
                <a:latin typeface="Noto Sans"/>
              </a:rPr>
              <a:t> — Tier 2 is 8.5% of tiered volume.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419856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Sea of Marmara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3444544"/>
            <a:ext cx="3152672" cy="123444"/>
          </a:xfrm>
          <a:prstGeom prst="roundRect">
            <a:avLst>
              <a:gd name="adj" fmla="val 6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40440" y="3444544"/>
            <a:ext cx="248895" cy="123444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53344" y="3419856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607308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Mediterranean Sea - Eastern Basin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631996"/>
            <a:ext cx="1327441" cy="123444"/>
          </a:xfrm>
          <a:prstGeom prst="roundRect">
            <a:avLst>
              <a:gd name="adj" fmla="val 6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79217" y="3607308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794760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Gulf of Finland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819448"/>
            <a:ext cx="746685" cy="123444"/>
          </a:xfrm>
          <a:prstGeom prst="roundRect">
            <a:avLst>
              <a:gd name="adj" fmla="val 6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34453" y="3819448"/>
            <a:ext cx="497790" cy="123444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6252" y="3794760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3982212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Arabian Sea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4006900"/>
            <a:ext cx="414825" cy="123444"/>
          </a:xfrm>
          <a:prstGeom prst="roundRect">
            <a:avLst>
              <a:gd name="adj" fmla="val 6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702593" y="4006900"/>
            <a:ext cx="82965" cy="123444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49566" y="3982212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169664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Strait of Gibraltar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87768" y="4194352"/>
            <a:ext cx="331860" cy="123444"/>
          </a:xfrm>
          <a:prstGeom prst="roundRect">
            <a:avLst>
              <a:gd name="adj" fmla="val 6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3636" y="4169664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4357116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Mediterranean Sea - Western Basin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87768" y="4381804"/>
            <a:ext cx="165930" cy="123444"/>
          </a:xfrm>
          <a:prstGeom prst="roundRect">
            <a:avLst>
              <a:gd name="adj" fmla="val 6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453698" y="4381804"/>
            <a:ext cx="165930" cy="123444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3636" y="4357116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4544568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Adriatic Sea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87768" y="4569256"/>
            <a:ext cx="165930" cy="123444"/>
          </a:xfrm>
          <a:prstGeom prst="roundRect">
            <a:avLst>
              <a:gd name="adj" fmla="val 6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53698" y="4569256"/>
            <a:ext cx="165930" cy="123444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3636" y="4544568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4920" y="4732020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Baltic Sea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87768" y="4756708"/>
            <a:ext cx="82965" cy="123444"/>
          </a:xfrm>
          <a:prstGeom prst="roundRect">
            <a:avLst>
              <a:gd name="adj" fmla="val 6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370733" y="4756708"/>
            <a:ext cx="248895" cy="123444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3636" y="4732020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74920" y="4919472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Red Sea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87768" y="4944160"/>
            <a:ext cx="331860" cy="123444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83636" y="4919472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4920" y="5106924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Aegean Sea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87768" y="5131612"/>
            <a:ext cx="165930" cy="123444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17706" y="5106924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74920" y="5294376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Gulf of Oman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287768" y="5319064"/>
            <a:ext cx="165930" cy="123444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17706" y="5294376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74920" y="5481828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Kattegat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287768" y="5506516"/>
            <a:ext cx="165930" cy="123444"/>
          </a:xfrm>
          <a:prstGeom prst="roundRect">
            <a:avLst>
              <a:gd name="adj" fmla="val 6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17706" y="5481828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74920" y="5669280"/>
            <a:ext cx="21396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2D323F"/>
                </a:solidFill>
                <a:latin typeface="Noto Sans"/>
              </a:rPr>
              <a:t>Caribbean Sea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287768" y="5693968"/>
            <a:ext cx="82965" cy="123444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34741" y="5669280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A1726"/>
                </a:solidFill>
                <a:latin typeface="Noto Sans"/>
              </a:rPr>
              <a:t>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189720" y="3090672"/>
            <a:ext cx="128016" cy="128016"/>
          </a:xfrm>
          <a:prstGeom prst="roundRect">
            <a:avLst>
              <a:gd name="adj" fmla="val 6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72600" y="302666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575D67"/>
                </a:solidFill>
                <a:latin typeface="Noto Sans"/>
              </a:rPr>
              <a:t>Ship to Ship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241280" y="3090672"/>
            <a:ext cx="128016" cy="128016"/>
          </a:xfrm>
          <a:prstGeom prst="roundRect">
            <a:avLst>
              <a:gd name="adj" fmla="val 6000"/>
            </a:avLst>
          </a:prstGeom>
          <a:solidFill>
            <a:srgbClr val="81B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424160" y="302666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575D67"/>
                </a:solidFill>
                <a:latin typeface="Noto Sans"/>
              </a:rPr>
              <a:t>Dark 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