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0" i="0">
                <a:solidFill>
                  <a:srgbClr val="0A1726"/>
                </a:solidFill>
                <a:latin typeface="Archivo"/>
              </a:rPr>
              <a:t>Current alerting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 i="1">
                <a:solidFill>
                  <a:srgbClr val="6187ED"/>
                </a:solidFill>
                <a:latin typeface="Noto Sans"/>
              </a:rPr>
              <a:t>Realized alert volume across two targeted expansions</a:t>
            </a:r>
          </a:p>
        </p:txBody>
      </p:sp>
      <p:pic>
        <p:nvPicPr>
          <p:cNvPr id="4" name="Picture 3" descr="hori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00800"/>
            <a:ext cx="1569631" cy="228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6400800"/>
            <a:ext cx="57881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8B99A2"/>
                </a:solidFill>
                <a:latin typeface="Noto Sans"/>
              </a:rPr>
              <a:t>Dataminr® Proprietary Information. ©2026 All rights reserved.  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115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B99A2"/>
                </a:solidFill>
                <a:latin typeface="Noto Sans"/>
              </a:rPr>
              <a:t>Sources: Internal alert volume export, Vessels of Interest / sanctioned-vessel theme; Internal alert volume export, Strait of Hormuz chokepoint theme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1691640"/>
            <a:ext cx="0" cy="4251960"/>
          </a:xfrm>
          <a:prstGeom prst="line">
            <a:avLst/>
          </a:prstGeom>
          <a:ln w="9525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691640"/>
            <a:ext cx="52957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0A1726"/>
                </a:solidFill>
                <a:latin typeface="Archivo"/>
              </a:rPr>
              <a:t>Vessels of interest &amp; sanctions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8B99A2"/>
                </a:solidFill>
                <a:latin typeface="Noto Sans"/>
              </a:rPr>
              <a:t>GROWTH, MAY 2025 -&gt; MAR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76856"/>
            <a:ext cx="5295747" cy="1013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0" b="0" i="0">
                <a:solidFill>
                  <a:srgbClr val="6187ED"/>
                </a:solidFill>
                <a:latin typeface="Archivo"/>
              </a:rPr>
              <a:t>~59x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0316"/>
            <a:ext cx="52957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2D323F"/>
                </a:solidFill>
                <a:latin typeface="Noto Sans"/>
              </a:rPr>
              <a:t>13,351 alerts at peak (Mar 2026), up from 228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6076"/>
            <a:ext cx="5295747" cy="2287524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005840" y="5559552"/>
            <a:ext cx="4564227" cy="0"/>
          </a:xfrm>
          <a:prstGeom prst="line">
            <a:avLst/>
          </a:prstGeom>
          <a:ln w="6350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5486400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8B99A2"/>
                </a:solidFill>
                <a:latin typeface="Noto San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4699254"/>
            <a:ext cx="4564227" cy="0"/>
          </a:xfrm>
          <a:prstGeom prst="line">
            <a:avLst/>
          </a:prstGeom>
          <a:ln w="6350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4626101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8B99A2"/>
                </a:solidFill>
                <a:latin typeface="Noto Sans"/>
              </a:rPr>
              <a:t>7k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40" y="3838956"/>
            <a:ext cx="4564227" cy="0"/>
          </a:xfrm>
          <a:prstGeom prst="line">
            <a:avLst/>
          </a:prstGeom>
          <a:ln w="6350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3765804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8B99A2"/>
                </a:solidFill>
                <a:latin typeface="Noto Sans"/>
              </a:rPr>
              <a:t>14k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5761" y="5532120"/>
            <a:ext cx="185421" cy="27432"/>
          </a:xfrm>
          <a:prstGeom prst="roundRect">
            <a:avLst>
              <a:gd name="adj" fmla="val 50000"/>
            </a:avLst>
          </a:prstGeom>
          <a:solidFill>
            <a:srgbClr val="C5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596128"/>
            <a:ext cx="2852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Mar '25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1025" y="5532120"/>
            <a:ext cx="185421" cy="27432"/>
          </a:xfrm>
          <a:prstGeom prst="roundRect">
            <a:avLst>
              <a:gd name="adj" fmla="val 50000"/>
            </a:avLst>
          </a:prstGeom>
          <a:solidFill>
            <a:srgbClr val="C5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26289" y="5531530"/>
            <a:ext cx="185421" cy="28021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11553" y="5410966"/>
            <a:ext cx="185421" cy="148585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96818" y="5168853"/>
            <a:ext cx="185421" cy="390698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46896" y="5596128"/>
            <a:ext cx="2852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Jul '25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82082" y="5014368"/>
            <a:ext cx="185421" cy="545183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767346" y="5108018"/>
            <a:ext cx="185421" cy="451533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052610" y="4611626"/>
            <a:ext cx="185421" cy="947925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37875" y="4116709"/>
            <a:ext cx="185421" cy="1442842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87953" y="5596128"/>
            <a:ext cx="2852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Nov '25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23139" y="4026992"/>
            <a:ext cx="185421" cy="1532559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908403" y="4029204"/>
            <a:ext cx="185421" cy="1530347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93667" y="4036947"/>
            <a:ext cx="185421" cy="1522604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78931" y="3918717"/>
            <a:ext cx="185421" cy="1640834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9010" y="5596128"/>
            <a:ext cx="2852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Mar '26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64196" y="4382049"/>
            <a:ext cx="185421" cy="1177502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49460" y="4145590"/>
            <a:ext cx="185421" cy="1413961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334724" y="4480615"/>
            <a:ext cx="185421" cy="1078936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5867" y="1691640"/>
            <a:ext cx="52957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0A1726"/>
                </a:solidFill>
                <a:latin typeface="Archivo"/>
              </a:rPr>
              <a:t>Strait of Hormuz &amp; MENA expansion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5867" y="2057400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8B99A2"/>
                </a:solidFill>
                <a:latin typeface="Noto Sans"/>
              </a:rPr>
              <a:t>PEAK MONTHLY 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5867" y="2276856"/>
            <a:ext cx="5295747" cy="1013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0" b="0" i="0">
                <a:solidFill>
                  <a:srgbClr val="6187ED"/>
                </a:solidFill>
                <a:latin typeface="Archivo"/>
              </a:rPr>
              <a:t>903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5867" y="3290316"/>
            <a:ext cx="52957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2D323F"/>
                </a:solidFill>
                <a:latin typeface="Noto Sans"/>
              </a:rPr>
              <a:t>Up from zero in Feb 2026 -- stood up for Epic Fury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55867" y="3656076"/>
            <a:ext cx="5295747" cy="2287524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621627" y="5559552"/>
            <a:ext cx="4564228" cy="0"/>
          </a:xfrm>
          <a:prstGeom prst="line">
            <a:avLst/>
          </a:prstGeom>
          <a:ln w="6350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255867" y="5486400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8B99A2"/>
                </a:solidFill>
                <a:latin typeface="Noto Sans"/>
              </a:rPr>
              <a:t>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621627" y="4699254"/>
            <a:ext cx="4564228" cy="0"/>
          </a:xfrm>
          <a:prstGeom prst="line">
            <a:avLst/>
          </a:prstGeom>
          <a:ln w="6350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55867" y="4626101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8B99A2"/>
                </a:solidFill>
                <a:latin typeface="Noto Sans"/>
              </a:rPr>
              <a:t>450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621627" y="3838956"/>
            <a:ext cx="4564228" cy="0"/>
          </a:xfrm>
          <a:prstGeom prst="line">
            <a:avLst/>
          </a:prstGeom>
          <a:ln w="6350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255867" y="3765804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8B99A2"/>
                </a:solidFill>
                <a:latin typeface="Noto Sans"/>
              </a:rPr>
              <a:t>900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35733" y="5545787"/>
            <a:ext cx="423821" cy="13764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1627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Feb '26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7765" y="5545787"/>
            <a:ext cx="423821" cy="13764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73660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Mar '26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39798" y="5307197"/>
            <a:ext cx="423821" cy="252354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25692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Apr '26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91830" y="4089398"/>
            <a:ext cx="423821" cy="1470153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77725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May '26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43863" y="4928666"/>
            <a:ext cx="423821" cy="630885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29757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Jun '26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95895" y="3833220"/>
            <a:ext cx="423821" cy="1726331"/>
          </a:xfrm>
          <a:prstGeom prst="roundRect">
            <a:avLst>
              <a:gd name="adj" fmla="val 35000"/>
            </a:avLst>
          </a:prstGeom>
          <a:solidFill>
            <a:srgbClr val="618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81790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Jul '26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647928" y="5406610"/>
            <a:ext cx="423821" cy="152941"/>
          </a:xfrm>
          <a:prstGeom prst="roundRect">
            <a:avLst>
              <a:gd name="adj" fmla="val 35000"/>
            </a:avLst>
          </a:prstGeom>
          <a:solidFill>
            <a:srgbClr val="889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33822" y="5596128"/>
            <a:ext cx="65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8B99A2"/>
                </a:solidFill>
                <a:latin typeface="Noto Sans"/>
              </a:rPr>
              <a:t>Aug '26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0" i="0">
                <a:solidFill>
                  <a:srgbClr val="0A1726"/>
                </a:solidFill>
                <a:latin typeface="Archivo"/>
              </a:rPr>
              <a:t>Upcoming releases &amp;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 i="1">
                <a:solidFill>
                  <a:srgbClr val="6187ED"/>
                </a:solidFill>
                <a:latin typeface="Noto Sans"/>
              </a:rPr>
              <a:t>Test-set projections for themes launching next week</a:t>
            </a:r>
          </a:p>
        </p:txBody>
      </p:sp>
      <p:pic>
        <p:nvPicPr>
          <p:cNvPr id="4" name="Picture 3" descr="hori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00800"/>
            <a:ext cx="1569631" cy="228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6400800"/>
            <a:ext cx="57881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8B99A2"/>
                </a:solidFill>
                <a:latin typeface="Noto Sans"/>
              </a:rPr>
              <a:t>Dataminr® Proprietary Information. ©2026 All rights reserved.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115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8B99A2"/>
                </a:solidFill>
                <a:latin typeface="Noto Sans"/>
              </a:rPr>
              <a:t>Sources: Internal test-set projections, MAV alerting theme (pre-launch); Internal test-set projections, Arctic alerting theme (pre-launch)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1691640"/>
            <a:ext cx="0" cy="4251960"/>
          </a:xfrm>
          <a:prstGeom prst="line">
            <a:avLst/>
          </a:prstGeom>
          <a:ln w="9525">
            <a:solidFill>
              <a:srgbClr val="C5CB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691640"/>
            <a:ext cx="52957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0A1726"/>
                </a:solidFill>
                <a:latin typeface="Archivo"/>
              </a:rPr>
              <a:t>South China Sea -- MAV alerting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39112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8B99A2"/>
                </a:solidFill>
                <a:latin typeface="Noto Sans"/>
              </a:rPr>
              <a:t>PROJECTED DAILY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5295747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5600" b="0" i="0">
                <a:solidFill>
                  <a:srgbClr val="6187ED"/>
                </a:solidFill>
                <a:latin typeface="Archivo"/>
              </a:rPr>
              <a:t>~300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87040"/>
            <a:ext cx="52957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2D323F"/>
                </a:solidFill>
                <a:latin typeface="Noto Sans"/>
              </a:rPr>
              <a:t>alerts/day at launch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24784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 i="1">
                <a:solidFill>
                  <a:srgbClr val="8B99A2"/>
                </a:solidFill>
                <a:latin typeface="Noto Sans"/>
              </a:rPr>
              <a:t>Test-set estimate -- launching week of Aug 10,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17392"/>
            <a:ext cx="5295747" cy="548640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ig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672840"/>
            <a:ext cx="28591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7280" y="3572256"/>
            <a:ext cx="47288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0A1726"/>
                </a:solidFill>
                <a:latin typeface="Noto Sans"/>
              </a:rPr>
              <a:t>Dark activity — </a:t>
            </a:r>
            <a:r>
              <a:rPr sz="1050" b="0" i="0">
                <a:solidFill>
                  <a:srgbClr val="2D323F"/>
                </a:solidFill>
                <a:latin typeface="Noto Sans"/>
              </a:rPr>
              <a:t>AIS/transponder signal loss consistent with evasive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39184"/>
            <a:ext cx="5295747" cy="548640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avig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2946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97280" y="4194048"/>
            <a:ext cx="47288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0A1726"/>
                </a:solidFill>
                <a:latin typeface="Noto Sans"/>
              </a:rPr>
              <a:t>Military zone entry — </a:t>
            </a:r>
            <a:r>
              <a:rPr sz="1050" b="0" i="0">
                <a:solidFill>
                  <a:srgbClr val="2D323F"/>
                </a:solidFill>
                <a:latin typeface="Noto Sans"/>
              </a:rPr>
              <a:t>Course tracks into designated military or restricted zones.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60976"/>
            <a:ext cx="5295747" cy="548640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916424"/>
            <a:ext cx="233395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7280" y="4815840"/>
            <a:ext cx="47288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0A1726"/>
                </a:solidFill>
                <a:latin typeface="Noto Sans"/>
              </a:rPr>
              <a:t>Vessel meeting — </a:t>
            </a:r>
            <a:r>
              <a:rPr sz="1050" b="0" i="0">
                <a:solidFill>
                  <a:srgbClr val="2D323F"/>
                </a:solidFill>
                <a:latin typeface="Noto Sans"/>
              </a:rPr>
              <a:t>Close-proximity rendezvous between vessels at sea.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01056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1">
                <a:solidFill>
                  <a:srgbClr val="8B99A2"/>
                </a:solidFill>
                <a:latin typeface="Noto Sans"/>
              </a:rPr>
              <a:t>Per-indicator daily split not yet available from the test set.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1691640"/>
            <a:ext cx="52957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0A1726"/>
                </a:solidFill>
                <a:latin typeface="Archivo"/>
              </a:rPr>
              <a:t>Arctic expansion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2039112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8B99A2"/>
                </a:solidFill>
                <a:latin typeface="Noto Sans"/>
              </a:rPr>
              <a:t>PROJECTED DAILY VOLUME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867" y="2240280"/>
            <a:ext cx="5295747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5600" b="0" i="0">
                <a:solidFill>
                  <a:srgbClr val="6187ED"/>
                </a:solidFill>
                <a:latin typeface="Archivo"/>
              </a:rPr>
              <a:t>~35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867" y="2987040"/>
            <a:ext cx="52957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2D323F"/>
                </a:solidFill>
                <a:latin typeface="Noto Sans"/>
              </a:rPr>
              <a:t>alerts/day at launch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867" y="3224784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 i="1">
                <a:solidFill>
                  <a:srgbClr val="8B99A2"/>
                </a:solidFill>
                <a:latin typeface="Noto Sans"/>
              </a:rPr>
              <a:t>Test-set estimate -- launching week of Aug 10, 2026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3517392"/>
            <a:ext cx="5295747" cy="548640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avig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883" y="3672840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13067" y="3572256"/>
            <a:ext cx="47288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0A1726"/>
                </a:solidFill>
                <a:latin typeface="Noto Sans"/>
              </a:rPr>
              <a:t>EEZ entries — </a:t>
            </a:r>
            <a:r>
              <a:rPr sz="1050" b="0" i="0">
                <a:solidFill>
                  <a:srgbClr val="2D323F"/>
                </a:solidFill>
                <a:latin typeface="Noto Sans"/>
              </a:rPr>
              <a:t>Vessel entries into exclusive economic zones of Arctic states.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5867" y="4139184"/>
            <a:ext cx="5295747" cy="548640"/>
          </a:xfrm>
          <a:prstGeom prst="roundRect">
            <a:avLst>
              <a:gd name="adj" fmla="val 6000"/>
            </a:avLst>
          </a:prstGeom>
          <a:solidFill>
            <a:srgbClr val="ED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ig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883" y="4294632"/>
            <a:ext cx="28591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13067" y="4194048"/>
            <a:ext cx="47288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0A1726"/>
                </a:solidFill>
                <a:latin typeface="Noto Sans"/>
              </a:rPr>
              <a:t>Dark activity — </a:t>
            </a:r>
            <a:r>
              <a:rPr sz="1050" b="0" i="0">
                <a:solidFill>
                  <a:srgbClr val="2D323F"/>
                </a:solidFill>
                <a:latin typeface="Noto Sans"/>
              </a:rPr>
              <a:t>AIS/transponder signal loss for medium- and high-risk vessels.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5867" y="4779264"/>
            <a:ext cx="52957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1">
                <a:solidFill>
                  <a:srgbClr val="8B99A2"/>
                </a:solidFill>
                <a:latin typeface="Noto Sans"/>
              </a:rPr>
              <a:t>Split by risk tier (medium vs. high) not yet available from the test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