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087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600" b="0" i="0">
                <a:solidFill>
                  <a:srgbClr val="0A1726"/>
                </a:solidFill>
                <a:latin typeface="Archivo"/>
              </a:rPr>
              <a:t>Current alerting trends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90879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800" b="0" i="1">
                <a:solidFill>
                  <a:srgbClr val="6187ED"/>
                </a:solidFill>
                <a:latin typeface="Noto Sans"/>
              </a:rPr>
              <a:t>Realized alert volume across two targeted expansions</a:t>
            </a:r>
          </a:p>
        </p:txBody>
      </p:sp>
      <p:pic>
        <p:nvPicPr>
          <p:cNvPr id="4" name="Picture 3" descr="horizontal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00800"/>
            <a:ext cx="1569631" cy="228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943600" y="6400800"/>
            <a:ext cx="5788152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0" i="0">
                <a:solidFill>
                  <a:srgbClr val="8B99A2"/>
                </a:solidFill>
                <a:latin typeface="Noto Sans"/>
              </a:rPr>
              <a:t>Dataminr® Proprietary Information. ©2026 All rights reserved.  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144768"/>
            <a:ext cx="1091153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1">
                <a:solidFill>
                  <a:srgbClr val="8B99A2"/>
                </a:solidFill>
                <a:latin typeface="Noto Sans"/>
              </a:rPr>
              <a:t>Sources: Internal alert volume export, Vessels of Interest / sanctioned-vessel theme; Internal alert volume export, Strait of Hormuz chokepoint theme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095847" y="1691640"/>
            <a:ext cx="0" cy="4251960"/>
          </a:xfrm>
          <a:prstGeom prst="line">
            <a:avLst/>
          </a:prstGeom>
          <a:ln w="9525">
            <a:solidFill>
              <a:srgbClr val="C5CB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40080" y="1691640"/>
            <a:ext cx="5295747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0" i="0">
                <a:solidFill>
                  <a:srgbClr val="0A1726"/>
                </a:solidFill>
                <a:latin typeface="Archivo"/>
              </a:rPr>
              <a:t>Vessels of interest &amp; sanctions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057400"/>
            <a:ext cx="529574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050" b="0" i="0">
                <a:solidFill>
                  <a:srgbClr val="8B99A2"/>
                </a:solidFill>
                <a:latin typeface="Noto Sans"/>
              </a:rPr>
              <a:t>NET NEW ALERTS/MONTH, AT PEAK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276856"/>
            <a:ext cx="5295747" cy="10134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7600" b="0" i="0">
                <a:solidFill>
                  <a:srgbClr val="6187ED"/>
                </a:solidFill>
                <a:latin typeface="Archivo"/>
              </a:rPr>
              <a:t>13,351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290316"/>
            <a:ext cx="5295747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250" b="0" i="0">
                <a:solidFill>
                  <a:srgbClr val="2D323F"/>
                </a:solidFill>
                <a:latin typeface="Noto Sans"/>
              </a:rPr>
              <a:t>Mar 2026 -- up from zero a year earlier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656076"/>
            <a:ext cx="5295747" cy="2287524"/>
          </a:xfrm>
          <a:prstGeom prst="roundRect">
            <a:avLst>
              <a:gd name="adj" fmla="val 6000"/>
            </a:avLst>
          </a:prstGeom>
          <a:solidFill>
            <a:srgbClr val="EDEF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>
            <a:off x="1005840" y="5559552"/>
            <a:ext cx="4564227" cy="0"/>
          </a:xfrm>
          <a:prstGeom prst="line">
            <a:avLst/>
          </a:prstGeom>
          <a:ln w="6350">
            <a:solidFill>
              <a:srgbClr val="C5CB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40080" y="5486400"/>
            <a:ext cx="310896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8B99A2"/>
                </a:solidFill>
                <a:latin typeface="Noto Sans"/>
              </a:rPr>
              <a:t>0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005840" y="4699254"/>
            <a:ext cx="4564227" cy="0"/>
          </a:xfrm>
          <a:prstGeom prst="line">
            <a:avLst/>
          </a:prstGeom>
          <a:ln w="6350">
            <a:solidFill>
              <a:srgbClr val="C5CB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40080" y="4626101"/>
            <a:ext cx="310896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8B99A2"/>
                </a:solidFill>
                <a:latin typeface="Noto Sans"/>
              </a:rPr>
              <a:t>7k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005840" y="3838956"/>
            <a:ext cx="4564227" cy="0"/>
          </a:xfrm>
          <a:prstGeom prst="line">
            <a:avLst/>
          </a:prstGeom>
          <a:ln w="6350">
            <a:solidFill>
              <a:srgbClr val="C5CB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40080" y="3765804"/>
            <a:ext cx="310896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8B99A2"/>
                </a:solidFill>
                <a:latin typeface="Noto Sans"/>
              </a:rPr>
              <a:t>14k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55761" y="5532120"/>
            <a:ext cx="185421" cy="27432"/>
          </a:xfrm>
          <a:prstGeom prst="roundRect">
            <a:avLst>
              <a:gd name="adj" fmla="val 50000"/>
            </a:avLst>
          </a:prstGeom>
          <a:solidFill>
            <a:srgbClr val="C5CB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5596128"/>
            <a:ext cx="28526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 b="0" i="0">
                <a:solidFill>
                  <a:srgbClr val="8B99A2"/>
                </a:solidFill>
                <a:latin typeface="Noto Sans"/>
              </a:rPr>
              <a:t>Mar '25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341025" y="5532120"/>
            <a:ext cx="185421" cy="27432"/>
          </a:xfrm>
          <a:prstGeom prst="roundRect">
            <a:avLst>
              <a:gd name="adj" fmla="val 50000"/>
            </a:avLst>
          </a:prstGeom>
          <a:solidFill>
            <a:srgbClr val="C5CB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1626289" y="5531530"/>
            <a:ext cx="185421" cy="28021"/>
          </a:xfrm>
          <a:prstGeom prst="roundRect">
            <a:avLst>
              <a:gd name="adj" fmla="val 35000"/>
            </a:avLst>
          </a:prstGeom>
          <a:solidFill>
            <a:srgbClr val="618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911553" y="5410966"/>
            <a:ext cx="185421" cy="148585"/>
          </a:xfrm>
          <a:prstGeom prst="roundRect">
            <a:avLst>
              <a:gd name="adj" fmla="val 35000"/>
            </a:avLst>
          </a:prstGeom>
          <a:solidFill>
            <a:srgbClr val="618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2196818" y="5168853"/>
            <a:ext cx="185421" cy="390698"/>
          </a:xfrm>
          <a:prstGeom prst="roundRect">
            <a:avLst>
              <a:gd name="adj" fmla="val 35000"/>
            </a:avLst>
          </a:prstGeom>
          <a:solidFill>
            <a:srgbClr val="618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146896" y="5596128"/>
            <a:ext cx="28526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 b="0" i="0">
                <a:solidFill>
                  <a:srgbClr val="8B99A2"/>
                </a:solidFill>
                <a:latin typeface="Noto Sans"/>
              </a:rPr>
              <a:t>Jul '25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482082" y="5014368"/>
            <a:ext cx="185421" cy="545183"/>
          </a:xfrm>
          <a:prstGeom prst="roundRect">
            <a:avLst>
              <a:gd name="adj" fmla="val 35000"/>
            </a:avLst>
          </a:prstGeom>
          <a:solidFill>
            <a:srgbClr val="618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2767346" y="5108018"/>
            <a:ext cx="185421" cy="451533"/>
          </a:xfrm>
          <a:prstGeom prst="roundRect">
            <a:avLst>
              <a:gd name="adj" fmla="val 35000"/>
            </a:avLst>
          </a:prstGeom>
          <a:solidFill>
            <a:srgbClr val="618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3052610" y="4611626"/>
            <a:ext cx="185421" cy="947925"/>
          </a:xfrm>
          <a:prstGeom prst="roundRect">
            <a:avLst>
              <a:gd name="adj" fmla="val 35000"/>
            </a:avLst>
          </a:prstGeom>
          <a:solidFill>
            <a:srgbClr val="618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3337875" y="4116709"/>
            <a:ext cx="185421" cy="1442842"/>
          </a:xfrm>
          <a:prstGeom prst="roundRect">
            <a:avLst>
              <a:gd name="adj" fmla="val 35000"/>
            </a:avLst>
          </a:prstGeom>
          <a:solidFill>
            <a:srgbClr val="618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287953" y="5596128"/>
            <a:ext cx="28526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 b="0" i="0">
                <a:solidFill>
                  <a:srgbClr val="8B99A2"/>
                </a:solidFill>
                <a:latin typeface="Noto Sans"/>
              </a:rPr>
              <a:t>Nov '25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623139" y="4026992"/>
            <a:ext cx="185421" cy="1532559"/>
          </a:xfrm>
          <a:prstGeom prst="roundRect">
            <a:avLst>
              <a:gd name="adj" fmla="val 35000"/>
            </a:avLst>
          </a:prstGeom>
          <a:solidFill>
            <a:srgbClr val="618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3908403" y="4029204"/>
            <a:ext cx="185421" cy="1530347"/>
          </a:xfrm>
          <a:prstGeom prst="roundRect">
            <a:avLst>
              <a:gd name="adj" fmla="val 35000"/>
            </a:avLst>
          </a:prstGeom>
          <a:solidFill>
            <a:srgbClr val="618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4193667" y="4036947"/>
            <a:ext cx="185421" cy="1522604"/>
          </a:xfrm>
          <a:prstGeom prst="roundRect">
            <a:avLst>
              <a:gd name="adj" fmla="val 35000"/>
            </a:avLst>
          </a:prstGeom>
          <a:solidFill>
            <a:srgbClr val="618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4478931" y="3918717"/>
            <a:ext cx="185421" cy="1640834"/>
          </a:xfrm>
          <a:prstGeom prst="roundRect">
            <a:avLst>
              <a:gd name="adj" fmla="val 35000"/>
            </a:avLst>
          </a:prstGeom>
          <a:solidFill>
            <a:srgbClr val="618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429010" y="5596128"/>
            <a:ext cx="28526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 b="0" i="0">
                <a:solidFill>
                  <a:srgbClr val="8B99A2"/>
                </a:solidFill>
                <a:latin typeface="Noto Sans"/>
              </a:rPr>
              <a:t>Mar '26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764196" y="4382049"/>
            <a:ext cx="185421" cy="1177502"/>
          </a:xfrm>
          <a:prstGeom prst="roundRect">
            <a:avLst>
              <a:gd name="adj" fmla="val 35000"/>
            </a:avLst>
          </a:prstGeom>
          <a:solidFill>
            <a:srgbClr val="618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5049460" y="4145590"/>
            <a:ext cx="185421" cy="1413961"/>
          </a:xfrm>
          <a:prstGeom prst="roundRect">
            <a:avLst>
              <a:gd name="adj" fmla="val 35000"/>
            </a:avLst>
          </a:prstGeom>
          <a:solidFill>
            <a:srgbClr val="618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5334724" y="4480615"/>
            <a:ext cx="185421" cy="1078936"/>
          </a:xfrm>
          <a:prstGeom prst="roundRect">
            <a:avLst>
              <a:gd name="adj" fmla="val 35000"/>
            </a:avLst>
          </a:prstGeom>
          <a:solidFill>
            <a:srgbClr val="618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55867" y="1691640"/>
            <a:ext cx="5295747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0" i="0">
                <a:solidFill>
                  <a:srgbClr val="0A1726"/>
                </a:solidFill>
                <a:latin typeface="Archivo"/>
              </a:rPr>
              <a:t>Strait of Hormuz &amp; MENA expansion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55867" y="2057400"/>
            <a:ext cx="529574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050" b="0" i="0">
                <a:solidFill>
                  <a:srgbClr val="8B99A2"/>
                </a:solidFill>
                <a:latin typeface="Noto Sans"/>
              </a:rPr>
              <a:t>NET NEW ALERTS/MONTH, AT PEAK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55867" y="2276856"/>
            <a:ext cx="5295747" cy="10134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7600" b="0" i="0">
                <a:solidFill>
                  <a:srgbClr val="6187ED"/>
                </a:solidFill>
                <a:latin typeface="Archivo"/>
              </a:rPr>
              <a:t>903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55867" y="3290316"/>
            <a:ext cx="5295747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250" b="0" i="0">
                <a:solidFill>
                  <a:srgbClr val="2D323F"/>
                </a:solidFill>
                <a:latin typeface="Noto Sans"/>
              </a:rPr>
              <a:t>Jul 2026 -- up from zero in February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255867" y="3656076"/>
            <a:ext cx="5295747" cy="2287524"/>
          </a:xfrm>
          <a:prstGeom prst="roundRect">
            <a:avLst>
              <a:gd name="adj" fmla="val 6000"/>
            </a:avLst>
          </a:prstGeom>
          <a:solidFill>
            <a:srgbClr val="EDEF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4" name="Connector 43"/>
          <p:cNvCxnSpPr/>
          <p:nvPr/>
        </p:nvCxnSpPr>
        <p:spPr>
          <a:xfrm>
            <a:off x="6621627" y="5559552"/>
            <a:ext cx="4564228" cy="0"/>
          </a:xfrm>
          <a:prstGeom prst="line">
            <a:avLst/>
          </a:prstGeom>
          <a:ln w="6350">
            <a:solidFill>
              <a:srgbClr val="C5CB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6255867" y="5486400"/>
            <a:ext cx="310896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8B99A2"/>
                </a:solidFill>
                <a:latin typeface="Noto Sans"/>
              </a:rPr>
              <a:t>0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6621627" y="4699254"/>
            <a:ext cx="4564228" cy="0"/>
          </a:xfrm>
          <a:prstGeom prst="line">
            <a:avLst/>
          </a:prstGeom>
          <a:ln w="6350">
            <a:solidFill>
              <a:srgbClr val="C5CB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6255867" y="4626101"/>
            <a:ext cx="310896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8B99A2"/>
                </a:solidFill>
                <a:latin typeface="Noto Sans"/>
              </a:rPr>
              <a:t>450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6621627" y="3838956"/>
            <a:ext cx="4564228" cy="0"/>
          </a:xfrm>
          <a:prstGeom prst="line">
            <a:avLst/>
          </a:prstGeom>
          <a:ln w="6350">
            <a:solidFill>
              <a:srgbClr val="C5CB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6255867" y="3765804"/>
            <a:ext cx="310896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8B99A2"/>
                </a:solidFill>
                <a:latin typeface="Noto Sans"/>
              </a:rPr>
              <a:t>900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735733" y="5545787"/>
            <a:ext cx="423821" cy="13764"/>
          </a:xfrm>
          <a:prstGeom prst="roundRect">
            <a:avLst>
              <a:gd name="adj" fmla="val 35000"/>
            </a:avLst>
          </a:prstGeom>
          <a:solidFill>
            <a:srgbClr val="618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621627" y="5596128"/>
            <a:ext cx="6520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 b="0" i="0">
                <a:solidFill>
                  <a:srgbClr val="8B99A2"/>
                </a:solidFill>
                <a:latin typeface="Noto Sans"/>
              </a:rPr>
              <a:t>Feb '26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387765" y="5545787"/>
            <a:ext cx="423821" cy="13764"/>
          </a:xfrm>
          <a:prstGeom prst="roundRect">
            <a:avLst>
              <a:gd name="adj" fmla="val 35000"/>
            </a:avLst>
          </a:prstGeom>
          <a:solidFill>
            <a:srgbClr val="618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273660" y="5596128"/>
            <a:ext cx="6520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 b="0" i="0">
                <a:solidFill>
                  <a:srgbClr val="8B99A2"/>
                </a:solidFill>
                <a:latin typeface="Noto Sans"/>
              </a:rPr>
              <a:t>Mar '26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8039798" y="5307197"/>
            <a:ext cx="423821" cy="252354"/>
          </a:xfrm>
          <a:prstGeom prst="roundRect">
            <a:avLst>
              <a:gd name="adj" fmla="val 35000"/>
            </a:avLst>
          </a:prstGeom>
          <a:solidFill>
            <a:srgbClr val="618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925692" y="5596128"/>
            <a:ext cx="6520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 b="0" i="0">
                <a:solidFill>
                  <a:srgbClr val="8B99A2"/>
                </a:solidFill>
                <a:latin typeface="Noto Sans"/>
              </a:rPr>
              <a:t>Apr '26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8691830" y="4089398"/>
            <a:ext cx="423821" cy="1470153"/>
          </a:xfrm>
          <a:prstGeom prst="roundRect">
            <a:avLst>
              <a:gd name="adj" fmla="val 35000"/>
            </a:avLst>
          </a:prstGeom>
          <a:solidFill>
            <a:srgbClr val="618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577725" y="5596128"/>
            <a:ext cx="6520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 b="0" i="0">
                <a:solidFill>
                  <a:srgbClr val="8B99A2"/>
                </a:solidFill>
                <a:latin typeface="Noto Sans"/>
              </a:rPr>
              <a:t>May '26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9343863" y="4928666"/>
            <a:ext cx="423821" cy="630885"/>
          </a:xfrm>
          <a:prstGeom prst="roundRect">
            <a:avLst>
              <a:gd name="adj" fmla="val 35000"/>
            </a:avLst>
          </a:prstGeom>
          <a:solidFill>
            <a:srgbClr val="618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229757" y="5596128"/>
            <a:ext cx="6520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 b="0" i="0">
                <a:solidFill>
                  <a:srgbClr val="8B99A2"/>
                </a:solidFill>
                <a:latin typeface="Noto Sans"/>
              </a:rPr>
              <a:t>Jun '26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9995895" y="3833220"/>
            <a:ext cx="423821" cy="1726331"/>
          </a:xfrm>
          <a:prstGeom prst="roundRect">
            <a:avLst>
              <a:gd name="adj" fmla="val 35000"/>
            </a:avLst>
          </a:prstGeom>
          <a:solidFill>
            <a:srgbClr val="618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881790" y="5596128"/>
            <a:ext cx="6520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 b="0" i="0">
                <a:solidFill>
                  <a:srgbClr val="8B99A2"/>
                </a:solidFill>
                <a:latin typeface="Noto Sans"/>
              </a:rPr>
              <a:t>Jul '26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10647928" y="5406610"/>
            <a:ext cx="423821" cy="152941"/>
          </a:xfrm>
          <a:prstGeom prst="roundRect">
            <a:avLst>
              <a:gd name="adj" fmla="val 35000"/>
            </a:avLst>
          </a:prstGeom>
          <a:solidFill>
            <a:srgbClr val="8893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0533822" y="5596128"/>
            <a:ext cx="6520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 b="0" i="0">
                <a:solidFill>
                  <a:srgbClr val="8B99A2"/>
                </a:solidFill>
                <a:latin typeface="Noto Sans"/>
              </a:rPr>
              <a:t>Aug '26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087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600" b="0" i="0">
                <a:solidFill>
                  <a:srgbClr val="0A1726"/>
                </a:solidFill>
                <a:latin typeface="Archivo"/>
              </a:rPr>
              <a:t>Upcoming releases &amp; projections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90879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800" b="0" i="1">
                <a:solidFill>
                  <a:srgbClr val="6187ED"/>
                </a:solidFill>
                <a:latin typeface="Noto Sans"/>
              </a:rPr>
              <a:t>Test-set projections for themes launching next week</a:t>
            </a:r>
          </a:p>
        </p:txBody>
      </p:sp>
      <p:pic>
        <p:nvPicPr>
          <p:cNvPr id="4" name="Picture 3" descr="horizontal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00800"/>
            <a:ext cx="1569631" cy="228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943600" y="6400800"/>
            <a:ext cx="5788152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0" i="0">
                <a:solidFill>
                  <a:srgbClr val="8B99A2"/>
                </a:solidFill>
                <a:latin typeface="Noto Sans"/>
              </a:rPr>
              <a:t>Dataminr® Proprietary Information. ©2026 All rights reserved.  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144768"/>
            <a:ext cx="1091153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1">
                <a:solidFill>
                  <a:srgbClr val="8B99A2"/>
                </a:solidFill>
                <a:latin typeface="Noto Sans"/>
              </a:rPr>
              <a:t>Sources: Internal test-set projections, MAV alerting theme (pre-launch); Internal test-set projections, Arctic alerting theme (pre-launch)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095847" y="1691640"/>
            <a:ext cx="0" cy="4251960"/>
          </a:xfrm>
          <a:prstGeom prst="line">
            <a:avLst/>
          </a:prstGeom>
          <a:ln w="9525">
            <a:solidFill>
              <a:srgbClr val="C5CB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40080" y="1691640"/>
            <a:ext cx="5295747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0" i="0">
                <a:solidFill>
                  <a:srgbClr val="0A1726"/>
                </a:solidFill>
                <a:latin typeface="Archivo"/>
              </a:rPr>
              <a:t>South China Sea -- MAV alerting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039112"/>
            <a:ext cx="529574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050" b="0" i="0">
                <a:solidFill>
                  <a:srgbClr val="8B99A2"/>
                </a:solidFill>
                <a:latin typeface="Noto Sans"/>
              </a:rPr>
              <a:t>PROJECTED DAILY VOLUME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240280"/>
            <a:ext cx="5295747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5600" b="0" i="0">
                <a:solidFill>
                  <a:srgbClr val="6187ED"/>
                </a:solidFill>
                <a:latin typeface="Archivo"/>
              </a:rPr>
              <a:t>~300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987040"/>
            <a:ext cx="529574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250" b="0" i="0">
                <a:solidFill>
                  <a:srgbClr val="2D323F"/>
                </a:solidFill>
                <a:latin typeface="Noto Sans"/>
              </a:rPr>
              <a:t>alerts/day at launch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224784"/>
            <a:ext cx="529574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950" b="0" i="1">
                <a:solidFill>
                  <a:srgbClr val="8B99A2"/>
                </a:solidFill>
                <a:latin typeface="Noto Sans"/>
              </a:rPr>
              <a:t>Test-set estimate -- launching week of Aug 10, 2026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517392"/>
            <a:ext cx="5295747" cy="548640"/>
          </a:xfrm>
          <a:prstGeom prst="roundRect">
            <a:avLst>
              <a:gd name="adj" fmla="val 6000"/>
            </a:avLst>
          </a:prstGeom>
          <a:solidFill>
            <a:srgbClr val="EDEF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sign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" y="3672840"/>
            <a:ext cx="285914" cy="23774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97280" y="3572256"/>
            <a:ext cx="4728819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00" b="1" i="0">
                <a:solidFill>
                  <a:srgbClr val="0A1726"/>
                </a:solidFill>
                <a:latin typeface="Noto Sans"/>
              </a:rPr>
              <a:t>Dark activity — </a:t>
            </a:r>
            <a:r>
              <a:rPr sz="1050" b="0" i="0">
                <a:solidFill>
                  <a:srgbClr val="2D323F"/>
                </a:solidFill>
                <a:latin typeface="Noto Sans"/>
              </a:rPr>
              <a:t>AIS/transponder signal loss consistent with evasive behavior.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139184"/>
            <a:ext cx="5295747" cy="548640"/>
          </a:xfrm>
          <a:prstGeom prst="roundRect">
            <a:avLst>
              <a:gd name="adj" fmla="val 6000"/>
            </a:avLst>
          </a:prstGeom>
          <a:solidFill>
            <a:srgbClr val="EDEF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naviga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096" y="4294632"/>
            <a:ext cx="237744" cy="237744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097280" y="4194048"/>
            <a:ext cx="4728819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00" b="1" i="0">
                <a:solidFill>
                  <a:srgbClr val="0A1726"/>
                </a:solidFill>
                <a:latin typeface="Noto Sans"/>
              </a:rPr>
              <a:t>Military zone entry — </a:t>
            </a:r>
            <a:r>
              <a:rPr sz="1050" b="0" i="0">
                <a:solidFill>
                  <a:srgbClr val="2D323F"/>
                </a:solidFill>
                <a:latin typeface="Noto Sans"/>
              </a:rPr>
              <a:t>Course tracks into designated military or restricted zones.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4760976"/>
            <a:ext cx="5295747" cy="548640"/>
          </a:xfrm>
          <a:prstGeom prst="roundRect">
            <a:avLst>
              <a:gd name="adj" fmla="val 6000"/>
            </a:avLst>
          </a:prstGeom>
          <a:solidFill>
            <a:srgbClr val="EDEF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networ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8096" y="4916424"/>
            <a:ext cx="233395" cy="237744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097280" y="4815840"/>
            <a:ext cx="4728819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00" b="1" i="0">
                <a:solidFill>
                  <a:srgbClr val="0A1726"/>
                </a:solidFill>
                <a:latin typeface="Noto Sans"/>
              </a:rPr>
              <a:t>Vessel meeting — </a:t>
            </a:r>
            <a:r>
              <a:rPr sz="1050" b="0" i="0">
                <a:solidFill>
                  <a:srgbClr val="2D323F"/>
                </a:solidFill>
                <a:latin typeface="Noto Sans"/>
              </a:rPr>
              <a:t>Close-proximity rendezvous between vessels at sea.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401056"/>
            <a:ext cx="529574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900" b="0" i="1">
                <a:solidFill>
                  <a:srgbClr val="8B99A2"/>
                </a:solidFill>
                <a:latin typeface="Noto Sans"/>
              </a:rPr>
              <a:t>Per-indicator daily split not yet available from the test set.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55867" y="1691640"/>
            <a:ext cx="5295747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0" i="0">
                <a:solidFill>
                  <a:srgbClr val="0A1726"/>
                </a:solidFill>
                <a:latin typeface="Archivo"/>
              </a:rPr>
              <a:t>Arctic expansion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55867" y="2039112"/>
            <a:ext cx="529574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050" b="0" i="0">
                <a:solidFill>
                  <a:srgbClr val="8B99A2"/>
                </a:solidFill>
                <a:latin typeface="Noto Sans"/>
              </a:rPr>
              <a:t>PROJECTED DAILY VOLUME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55867" y="2240280"/>
            <a:ext cx="5295747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5600" b="0" i="0">
                <a:solidFill>
                  <a:srgbClr val="6187ED"/>
                </a:solidFill>
                <a:latin typeface="Archivo"/>
              </a:rPr>
              <a:t>~35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55867" y="2987040"/>
            <a:ext cx="529574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250" b="0" i="0">
                <a:solidFill>
                  <a:srgbClr val="2D323F"/>
                </a:solidFill>
                <a:latin typeface="Noto Sans"/>
              </a:rPr>
              <a:t>alerts/day at launch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55867" y="3224784"/>
            <a:ext cx="529574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950" b="0" i="1">
                <a:solidFill>
                  <a:srgbClr val="8B99A2"/>
                </a:solidFill>
                <a:latin typeface="Noto Sans"/>
              </a:rPr>
              <a:t>Test-set estimate -- launching week of Aug 10, 2026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55867" y="3517392"/>
            <a:ext cx="5295747" cy="548640"/>
          </a:xfrm>
          <a:prstGeom prst="roundRect">
            <a:avLst>
              <a:gd name="adj" fmla="val 6000"/>
            </a:avLst>
          </a:prstGeom>
          <a:solidFill>
            <a:srgbClr val="EDEF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naviga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3883" y="3672840"/>
            <a:ext cx="237744" cy="237744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6713067" y="3572256"/>
            <a:ext cx="4728819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00" b="1" i="0">
                <a:solidFill>
                  <a:srgbClr val="0A1726"/>
                </a:solidFill>
                <a:latin typeface="Noto Sans"/>
              </a:rPr>
              <a:t>EEZ entries — </a:t>
            </a:r>
            <a:r>
              <a:rPr sz="1050" b="0" i="0">
                <a:solidFill>
                  <a:srgbClr val="2D323F"/>
                </a:solidFill>
                <a:latin typeface="Noto Sans"/>
              </a:rPr>
              <a:t>Vessel entries into exclusive economic zones of Arctic states.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55867" y="4139184"/>
            <a:ext cx="5295747" cy="548640"/>
          </a:xfrm>
          <a:prstGeom prst="roundRect">
            <a:avLst>
              <a:gd name="adj" fmla="val 6000"/>
            </a:avLst>
          </a:prstGeom>
          <a:solidFill>
            <a:srgbClr val="EDEF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sign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3883" y="4294632"/>
            <a:ext cx="285914" cy="237744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6713067" y="4194048"/>
            <a:ext cx="4728819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00" b="1" i="0">
                <a:solidFill>
                  <a:srgbClr val="0A1726"/>
                </a:solidFill>
                <a:latin typeface="Noto Sans"/>
              </a:rPr>
              <a:t>Dark activity — </a:t>
            </a:r>
            <a:r>
              <a:rPr sz="1050" b="0" i="0">
                <a:solidFill>
                  <a:srgbClr val="2D323F"/>
                </a:solidFill>
                <a:latin typeface="Noto Sans"/>
              </a:rPr>
              <a:t>AIS/transponder signal loss for medium- and high-risk vessels.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55867" y="4779264"/>
            <a:ext cx="529574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900" b="0" i="1">
                <a:solidFill>
                  <a:srgbClr val="8B99A2"/>
                </a:solidFill>
                <a:latin typeface="Noto Sans"/>
              </a:rPr>
              <a:t>Split by risk tier (medium vs. high) not yet available from the test set.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