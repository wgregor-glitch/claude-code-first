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-slide-rend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" y="1901952"/>
            <a:ext cx="4636008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500" b="0" i="0">
                <a:solidFill>
                  <a:srgbClr val="FFFFFF"/>
                </a:solidFill>
                <a:latin typeface="Archivo"/>
              </a:rPr>
              <a:t>2026 alerting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3557016"/>
            <a:ext cx="4636008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Noto Sans"/>
              </a:rPr>
              <a:t>Targeted growth in strategic chokepoints and conflict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5000" b="0" i="0">
                <a:solidFill>
                  <a:srgbClr val="FFFFFF"/>
                </a:solidFill>
                <a:latin typeface="Archivo"/>
              </a:rPr>
              <a:t>Targeted, not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 i="1">
                <a:solidFill>
                  <a:srgbClr val="6187ED"/>
                </a:solidFill>
                <a:latin typeface="Noto Sans"/>
              </a:rPr>
              <a:t>Alert growth in 2026 came from focused expansion, not a global volume increase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528816"/>
            <a:ext cx="1381276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6400800"/>
            <a:ext cx="5788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Noto Sans"/>
              </a:rPr>
              <a:t>Dataminr® Proprietary Information. ©2026 All rights reserved.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0" i="0">
                <a:solidFill>
                  <a:srgbClr val="0A1726"/>
                </a:solidFill>
                <a:latin typeface="Archivo"/>
              </a:rPr>
              <a:t>Four places we expanded</a:t>
            </a:r>
          </a:p>
        </p:txBody>
      </p:sp>
      <p:pic>
        <p:nvPicPr>
          <p:cNvPr id="3" name="Picture 2" descr="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0"/>
            <a:ext cx="1569631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0"/>
            <a:ext cx="5788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B99A2"/>
                </a:solidFill>
                <a:latin typeface="Noto Sans"/>
              </a:rPr>
              <a:t>Dataminr® Proprietary Information. ©2026 All rights reserved.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44768"/>
            <a:ext cx="109115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B99A2"/>
                </a:solidFill>
                <a:latin typeface="Noto Sans"/>
              </a:rPr>
              <a:t>Sources: Internal alert volume export, Vessels of Interest / sanctioned-vessel theme; Internal alert volume export, Strait of Hormuz chokepoint theme; Internal test-set projections, MAV alerting theme (pre-launch); Internal test-set projections, Arctic alerting theme (pre-launch)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08792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42900" indent="-228600">
              <a:spcAft>
                <a:spcPts val="800"/>
              </a:spcAft>
              <a:buChar char="•"/>
            </a:pPr>
            <a:r>
              <a:rPr sz="1800" b="1" i="0">
                <a:solidFill>
                  <a:srgbClr val="0A1726"/>
                </a:solidFill>
                <a:latin typeface="Noto Sans"/>
              </a:rPr>
              <a:t>Vessels of interest &amp; sanctions</a:t>
            </a:r>
            <a:r>
              <a:rPr sz="1800" b="0" i="0">
                <a:solidFill>
                  <a:srgbClr val="2D323F"/>
                </a:solidFill>
                <a:latin typeface="Noto Sans"/>
              </a:rPr>
              <a:t> — Russian shadow-fleet designations drove alert volume up ~59x since May 2025.</a:t>
            </a:r>
          </a:p>
          <a:p>
            <a:pPr marL="342900" indent="-228600">
              <a:spcAft>
                <a:spcPts val="800"/>
              </a:spcAft>
              <a:buChar char="•"/>
            </a:pPr>
            <a:r>
              <a:rPr sz="1800" b="1" i="0">
                <a:solidFill>
                  <a:srgbClr val="0A1726"/>
                </a:solidFill>
                <a:latin typeface="Noto Sans"/>
              </a:rPr>
              <a:t>Strait of Hormuz &amp; MENA expansion</a:t>
            </a:r>
            <a:r>
              <a:rPr sz="1800" b="0" i="0">
                <a:solidFill>
                  <a:srgbClr val="2D323F"/>
                </a:solidFill>
                <a:latin typeface="Noto Sans"/>
              </a:rPr>
              <a:t> — new chokepoint alerting stood up in direct response to Epic Fury: 0 to 900+ alerts/month in 4 months.</a:t>
            </a:r>
          </a:p>
          <a:p>
            <a:pPr marL="342900" indent="-228600">
              <a:spcAft>
                <a:spcPts val="800"/>
              </a:spcAft>
              <a:buChar char="•"/>
            </a:pPr>
            <a:r>
              <a:rPr sz="1800" b="1" i="0">
                <a:solidFill>
                  <a:srgbClr val="0A1726"/>
                </a:solidFill>
                <a:latin typeface="Noto Sans"/>
              </a:rPr>
              <a:t>South China Sea — MAV alerting</a:t>
            </a:r>
            <a:r>
              <a:rPr sz="1800" b="0" i="0">
                <a:solidFill>
                  <a:srgbClr val="2D323F"/>
                </a:solidFill>
                <a:latin typeface="Noto Sans"/>
              </a:rPr>
              <a:t> — launching next week: ~300 projected alerts/day across three behavioral risk indicators.</a:t>
            </a:r>
          </a:p>
          <a:p>
            <a:pPr marL="342900" indent="-228600">
              <a:spcAft>
                <a:spcPts val="800"/>
              </a:spcAft>
              <a:buChar char="•"/>
            </a:pPr>
            <a:r>
              <a:rPr sz="1800" b="1" i="0">
                <a:solidFill>
                  <a:srgbClr val="0A1726"/>
                </a:solidFill>
                <a:latin typeface="Noto Sans"/>
              </a:rPr>
              <a:t>Arctic expansion</a:t>
            </a:r>
            <a:r>
              <a:rPr sz="1800" b="0" i="0">
                <a:solidFill>
                  <a:srgbClr val="2D323F"/>
                </a:solidFill>
                <a:latin typeface="Noto Sans"/>
              </a:rPr>
              <a:t> — launching next week: ~35 projected alerts/day across EEZ entries and dark activity.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1">
                <a:solidFill>
                  <a:srgbClr val="8B99A2"/>
                </a:solidFill>
                <a:latin typeface="Noto Sans"/>
              </a:rPr>
              <a:t>A separate project to generalize and globalize these alert themes exists but has not started.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0" i="0">
                <a:solidFill>
                  <a:srgbClr val="0A1726"/>
                </a:solidFill>
                <a:latin typeface="Archivo"/>
              </a:rPr>
              <a:t>Vessels of interest &amp; sanctions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 i="1">
                <a:solidFill>
                  <a:srgbClr val="6187ED"/>
                </a:solidFill>
                <a:latin typeface="Noto Sans"/>
              </a:rPr>
              <a:t>Russian shadow-fleet designations drove a sustained alert plateau</a:t>
            </a:r>
          </a:p>
        </p:txBody>
      </p:sp>
      <p:pic>
        <p:nvPicPr>
          <p:cNvPr id="4" name="Picture 3" descr="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0"/>
            <a:ext cx="1569631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6400800"/>
            <a:ext cx="5788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B99A2"/>
                </a:solidFill>
                <a:latin typeface="Noto Sans"/>
              </a:rPr>
              <a:t>Dataminr® Proprietary Information. ©2026 All rights reserved.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44768"/>
            <a:ext cx="109115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B99A2"/>
                </a:solidFill>
                <a:latin typeface="Noto Sans"/>
              </a:rPr>
              <a:t>Sources: Internal alert volume export, Vessels of Interest / sanctioned-vessel theme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515258" cy="96012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810512"/>
            <a:ext cx="3186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8B99A2"/>
                </a:solidFill>
                <a:latin typeface="Noto Sans"/>
              </a:rPr>
              <a:t>May 2025 (first month)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75688"/>
            <a:ext cx="31860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0" i="0">
                <a:solidFill>
                  <a:srgbClr val="0A1726"/>
                </a:solidFill>
                <a:latin typeface="Archivo"/>
              </a:rPr>
              <a:t>228</a:t>
            </a:r>
            <a:r>
              <a:rPr sz="1300" b="0" i="0">
                <a:solidFill>
                  <a:srgbClr val="2D323F"/>
                </a:solidFill>
                <a:latin typeface="Noto Sans"/>
              </a:rPr>
              <a:t>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91640"/>
            <a:ext cx="3515258" cy="96012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1810512"/>
            <a:ext cx="3186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8B99A2"/>
                </a:solidFill>
                <a:latin typeface="Noto Sans"/>
              </a:rPr>
              <a:t>Peak month (Mar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2810" y="2075688"/>
            <a:ext cx="31860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0" i="0">
                <a:solidFill>
                  <a:srgbClr val="0A1726"/>
                </a:solidFill>
                <a:latin typeface="Archivo"/>
              </a:rPr>
              <a:t>13,351</a:t>
            </a:r>
            <a:r>
              <a:rPr sz="1300" b="0" i="0">
                <a:solidFill>
                  <a:srgbClr val="2D323F"/>
                </a:solidFill>
                <a:latin typeface="Noto Sans"/>
              </a:rPr>
              <a:t>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691640"/>
            <a:ext cx="3515258" cy="96012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0948" y="1810512"/>
            <a:ext cx="3186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8B99A2"/>
                </a:solidFill>
                <a:latin typeface="Noto Sans"/>
              </a:rPr>
              <a:t>Growth, May '25 -&gt; Mar '26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0948" y="2075688"/>
            <a:ext cx="31860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0" i="0">
                <a:solidFill>
                  <a:srgbClr val="0A1726"/>
                </a:solidFill>
                <a:latin typeface="Archivo"/>
              </a:rPr>
              <a:t>~59x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80360"/>
            <a:ext cx="10908792" cy="288036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60119" y="5257800"/>
            <a:ext cx="10268713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5175504"/>
            <a:ext cx="265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19" y="4743450"/>
            <a:ext cx="10268713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661154"/>
            <a:ext cx="265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3,500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19" y="4229100"/>
            <a:ext cx="10268713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4146804"/>
            <a:ext cx="265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7,000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19" y="3714750"/>
            <a:ext cx="10268713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3632454"/>
            <a:ext cx="265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10,500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19" y="3200400"/>
            <a:ext cx="10268713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3118104"/>
            <a:ext cx="265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14,000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2434" y="5221224"/>
            <a:ext cx="417166" cy="36576"/>
          </a:xfrm>
          <a:prstGeom prst="roundRect">
            <a:avLst>
              <a:gd name="adj" fmla="val 50000"/>
            </a:avLst>
          </a:prstGeom>
          <a:solidFill>
            <a:srgbClr val="C5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19" y="5312664"/>
            <a:ext cx="6417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Mar '25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14228" y="5221224"/>
            <a:ext cx="417166" cy="36576"/>
          </a:xfrm>
          <a:prstGeom prst="roundRect">
            <a:avLst>
              <a:gd name="adj" fmla="val 50000"/>
            </a:avLst>
          </a:prstGeom>
          <a:solidFill>
            <a:srgbClr val="C5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56023" y="5224293"/>
            <a:ext cx="417166" cy="33506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3709" y="5312664"/>
            <a:ext cx="6417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May '25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97817" y="5080128"/>
            <a:ext cx="417166" cy="177671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39612" y="4790623"/>
            <a:ext cx="417166" cy="467176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7298" y="5312664"/>
            <a:ext cx="6417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Jul '25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81406" y="4605898"/>
            <a:ext cx="417166" cy="651901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923201" y="4717879"/>
            <a:ext cx="417166" cy="539920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10887" y="5312664"/>
            <a:ext cx="6417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Sep '25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64995" y="4124319"/>
            <a:ext cx="417166" cy="1133480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06790" y="3532523"/>
            <a:ext cx="417166" cy="1725276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4476" y="5312664"/>
            <a:ext cx="6417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Nov '25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48584" y="3425244"/>
            <a:ext cx="417166" cy="1832555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90379" y="3427889"/>
            <a:ext cx="417166" cy="1829910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8065" y="5312664"/>
            <a:ext cx="6417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Jan '26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2173" y="3437147"/>
            <a:ext cx="417166" cy="1820652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773968" y="3295775"/>
            <a:ext cx="417166" cy="1962024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61654" y="5312664"/>
            <a:ext cx="6417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Mar '26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15762" y="3849803"/>
            <a:ext cx="417166" cy="1407996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57557" y="3567058"/>
            <a:ext cx="417166" cy="1690741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45242" y="5312664"/>
            <a:ext cx="6417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May '26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99351" y="3967663"/>
            <a:ext cx="417166" cy="1290136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0" i="0">
                <a:solidFill>
                  <a:srgbClr val="0A1726"/>
                </a:solidFill>
                <a:latin typeface="Archivo"/>
              </a:rPr>
              <a:t>Strait of Hormuz &amp; MENA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 i="1">
                <a:solidFill>
                  <a:srgbClr val="6187ED"/>
                </a:solidFill>
                <a:latin typeface="Noto Sans"/>
              </a:rPr>
              <a:t>Stood up in direct response to Epic Fury</a:t>
            </a:r>
          </a:p>
        </p:txBody>
      </p:sp>
      <p:pic>
        <p:nvPicPr>
          <p:cNvPr id="4" name="Picture 3" descr="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0"/>
            <a:ext cx="1569631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6400800"/>
            <a:ext cx="5788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B99A2"/>
                </a:solidFill>
                <a:latin typeface="Noto Sans"/>
              </a:rPr>
              <a:t>Dataminr® Proprietary Information. ©2026 All rights reserved.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44768"/>
            <a:ext cx="109115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B99A2"/>
                </a:solidFill>
                <a:latin typeface="Noto Sans"/>
              </a:rPr>
              <a:t>Sources: Internal alert volume export, Strait of Hormuz chokepoint theme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515258" cy="96012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810512"/>
            <a:ext cx="3186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8B99A2"/>
                </a:solidFill>
                <a:latin typeface="Noto Sans"/>
              </a:rPr>
              <a:t>Feb-Mar 2026 (zero coverage)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75688"/>
            <a:ext cx="31860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0" i="0">
                <a:solidFill>
                  <a:srgbClr val="0A1726"/>
                </a:solidFill>
                <a:latin typeface="Archivo"/>
              </a:rPr>
              <a:t>0</a:t>
            </a:r>
            <a:r>
              <a:rPr sz="1300" b="0" i="0">
                <a:solidFill>
                  <a:srgbClr val="2D323F"/>
                </a:solidFill>
                <a:latin typeface="Noto Sans"/>
              </a:rPr>
              <a:t>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91640"/>
            <a:ext cx="3515258" cy="96012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1810512"/>
            <a:ext cx="3186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8B99A2"/>
                </a:solidFill>
                <a:latin typeface="Noto Sans"/>
              </a:rPr>
              <a:t>Peak month (Jul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2810" y="2075688"/>
            <a:ext cx="31860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0" i="0">
                <a:solidFill>
                  <a:srgbClr val="0A1726"/>
                </a:solidFill>
                <a:latin typeface="Archivo"/>
              </a:rPr>
              <a:t>903</a:t>
            </a:r>
            <a:r>
              <a:rPr sz="1300" b="0" i="0">
                <a:solidFill>
                  <a:srgbClr val="2D323F"/>
                </a:solidFill>
                <a:latin typeface="Noto Sans"/>
              </a:rPr>
              <a:t>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6356" y="1691640"/>
            <a:ext cx="3515258" cy="96012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0948" y="1810512"/>
            <a:ext cx="31860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8B99A2"/>
                </a:solidFill>
                <a:latin typeface="Noto Sans"/>
              </a:rPr>
              <a:t>Time to peak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0948" y="2075688"/>
            <a:ext cx="31860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0" i="0">
                <a:solidFill>
                  <a:srgbClr val="0A1726"/>
                </a:solidFill>
                <a:latin typeface="Archivo"/>
              </a:rPr>
              <a:t>4</a:t>
            </a:r>
            <a:r>
              <a:rPr sz="1300" b="0" i="0">
                <a:solidFill>
                  <a:srgbClr val="2D323F"/>
                </a:solidFill>
                <a:latin typeface="Noto Sans"/>
              </a:rPr>
              <a:t>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80360"/>
            <a:ext cx="10908792" cy="288036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60119" y="5257800"/>
            <a:ext cx="10268713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5175504"/>
            <a:ext cx="265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19" y="4743450"/>
            <a:ext cx="10268713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661154"/>
            <a:ext cx="265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225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19" y="4229100"/>
            <a:ext cx="10268713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4146804"/>
            <a:ext cx="265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450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0119" y="3714750"/>
            <a:ext cx="10268713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3632454"/>
            <a:ext cx="265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675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19" y="3200400"/>
            <a:ext cx="10268713" cy="0"/>
          </a:xfrm>
          <a:prstGeom prst="line">
            <a:avLst/>
          </a:prstGeom>
          <a:ln w="6350">
            <a:solidFill>
              <a:srgbClr val="C5CB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3118104"/>
            <a:ext cx="2651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8B99A2"/>
                </a:solidFill>
                <a:latin typeface="Noto Sans"/>
              </a:rPr>
              <a:t>900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16837" y="5245455"/>
            <a:ext cx="953523" cy="12344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19" y="5312664"/>
            <a:ext cx="14669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Feb '26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83796" y="5245455"/>
            <a:ext cx="953523" cy="12344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7078" y="5312664"/>
            <a:ext cx="14669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Mar '26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50755" y="4956048"/>
            <a:ext cx="953523" cy="301752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94037" y="5312664"/>
            <a:ext cx="14669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Apr '26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17714" y="3499865"/>
            <a:ext cx="953523" cy="1757934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60996" y="5312664"/>
            <a:ext cx="14669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May '26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84673" y="4503420"/>
            <a:ext cx="953523" cy="754380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7955" y="5312664"/>
            <a:ext cx="14669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Jun '26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51632" y="3193541"/>
            <a:ext cx="953523" cy="2064258"/>
          </a:xfrm>
          <a:prstGeom prst="roundRect">
            <a:avLst>
              <a:gd name="adj" fmla="val 40000"/>
            </a:avLst>
          </a:prstGeom>
          <a:solidFill>
            <a:srgbClr val="618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4914" y="5312664"/>
            <a:ext cx="14669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Jul '26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18590" y="5074920"/>
            <a:ext cx="953523" cy="182880"/>
          </a:xfrm>
          <a:prstGeom prst="roundRect">
            <a:avLst>
              <a:gd name="adj" fmla="val 40000"/>
            </a:avLst>
          </a:prstGeom>
          <a:solidFill>
            <a:srgbClr val="889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61873" y="5312664"/>
            <a:ext cx="14669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8B99A2"/>
                </a:solidFill>
                <a:latin typeface="Noto Sans"/>
              </a:rPr>
              <a:t>Aug '26</a:t>
            </a:r>
          </a:p>
          <a:p>
            <a:pPr algn="ctr"/>
            <a:r>
              <a:rPr sz="650" b="0" i="1">
                <a:solidFill>
                  <a:srgbClr val="8B99A2"/>
                </a:solidFill>
                <a:latin typeface="Noto Sans"/>
              </a:rPr>
              <a:t>(partial)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0" i="0">
                <a:solidFill>
                  <a:srgbClr val="0A1726"/>
                </a:solidFill>
                <a:latin typeface="Archivo"/>
              </a:rPr>
              <a:t>South China Sea -- MAV alerting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 i="1">
                <a:solidFill>
                  <a:srgbClr val="6187ED"/>
                </a:solidFill>
                <a:latin typeface="Noto Sans"/>
              </a:rPr>
              <a:t>Launching next week -- projected volume from test-set output</a:t>
            </a:r>
          </a:p>
        </p:txBody>
      </p:sp>
      <p:pic>
        <p:nvPicPr>
          <p:cNvPr id="4" name="Picture 3" descr="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0"/>
            <a:ext cx="1569631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6400800"/>
            <a:ext cx="5788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B99A2"/>
                </a:solidFill>
                <a:latin typeface="Noto Sans"/>
              </a:rPr>
              <a:t>Dataminr® Proprietary Information. ©2026 All rights reserved.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44768"/>
            <a:ext cx="109115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B99A2"/>
                </a:solidFill>
                <a:latin typeface="Noto Sans"/>
              </a:rPr>
              <a:t>Sources: Internal test-set projections, MAV alerting theme (pre-launch)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0A1726"/>
                </a:solidFill>
                <a:latin typeface="Archivo"/>
              </a:rPr>
              <a:t>PROJECTED DAILY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9436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0" b="0" i="0">
                <a:solidFill>
                  <a:srgbClr val="6187ED"/>
                </a:solidFill>
                <a:latin typeface="Archivo"/>
              </a:rPr>
              <a:t>~300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 i="0">
                <a:solidFill>
                  <a:srgbClr val="2D323F"/>
                </a:solidFill>
                <a:latin typeface="Noto Sans"/>
              </a:rPr>
              <a:t>alerts/day at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1">
                <a:solidFill>
                  <a:srgbClr val="8B99A2"/>
                </a:solidFill>
                <a:latin typeface="Noto Sans"/>
              </a:rPr>
              <a:t>Test-set estimate, not a realized alert count -- launching week of Aug 10,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28800"/>
            <a:ext cx="4645152" cy="128016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ig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975104"/>
            <a:ext cx="351895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0" y="2322576"/>
            <a:ext cx="4187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0A1726"/>
                </a:solidFill>
                <a:latin typeface="Archivo"/>
              </a:rPr>
              <a:t>Dark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96896"/>
            <a:ext cx="41879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2D323F"/>
                </a:solidFill>
                <a:latin typeface="Noto Sans"/>
              </a:rPr>
              <a:t>AIS/transponder signal loss consistent with evasive behavior.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246120"/>
            <a:ext cx="4645152" cy="128016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navig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392424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0" y="3739896"/>
            <a:ext cx="4187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0A1726"/>
                </a:solidFill>
                <a:latin typeface="Archivo"/>
              </a:rPr>
              <a:t>Military zone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014215"/>
            <a:ext cx="41879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2D323F"/>
                </a:solidFill>
                <a:latin typeface="Noto Sans"/>
              </a:rPr>
              <a:t>Course tracks into designated military or restricted zones.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663440"/>
            <a:ext cx="4645152" cy="128016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809744"/>
            <a:ext cx="287255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32320" y="5157216"/>
            <a:ext cx="4187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0A1726"/>
                </a:solidFill>
                <a:latin typeface="Archivo"/>
              </a:rPr>
              <a:t>Vessel meeting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431536"/>
            <a:ext cx="41879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2D323F"/>
                </a:solidFill>
                <a:latin typeface="Noto Sans"/>
              </a:rPr>
              <a:t>Close-proximity rendezvous between vessels at sea.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1">
                <a:solidFill>
                  <a:srgbClr val="8B99A2"/>
                </a:solidFill>
                <a:latin typeface="Noto Sans"/>
              </a:rPr>
              <a:t>Per-indicator daily split not yet available from the test 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0" i="0">
                <a:solidFill>
                  <a:srgbClr val="0A1726"/>
                </a:solidFill>
                <a:latin typeface="Archivo"/>
              </a:rPr>
              <a:t>Arctic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 i="1">
                <a:solidFill>
                  <a:srgbClr val="6187ED"/>
                </a:solidFill>
                <a:latin typeface="Noto Sans"/>
              </a:rPr>
              <a:t>Launching next week -- projected volume from test-set output</a:t>
            </a:r>
          </a:p>
        </p:txBody>
      </p:sp>
      <p:pic>
        <p:nvPicPr>
          <p:cNvPr id="4" name="Picture 3" descr="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0"/>
            <a:ext cx="1569631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6400800"/>
            <a:ext cx="5788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8B99A2"/>
                </a:solidFill>
                <a:latin typeface="Noto Sans"/>
              </a:rPr>
              <a:t>Dataminr® Proprietary Information. ©2026 All rights reserved.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44768"/>
            <a:ext cx="109115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8B99A2"/>
                </a:solidFill>
                <a:latin typeface="Noto Sans"/>
              </a:rPr>
              <a:t>Sources: Internal test-set projections, Arctic alerting theme (pre-launch)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0A1726"/>
                </a:solidFill>
                <a:latin typeface="Archivo"/>
              </a:rPr>
              <a:t>PROJECTED DAILY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9436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0" b="0" i="0">
                <a:solidFill>
                  <a:srgbClr val="6187ED"/>
                </a:solidFill>
                <a:latin typeface="Archivo"/>
              </a:rPr>
              <a:t>~35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 i="0">
                <a:solidFill>
                  <a:srgbClr val="2D323F"/>
                </a:solidFill>
                <a:latin typeface="Noto Sans"/>
              </a:rPr>
              <a:t>alerts/day at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0" i="1">
                <a:solidFill>
                  <a:srgbClr val="8B99A2"/>
                </a:solidFill>
                <a:latin typeface="Noto Sans"/>
              </a:rPr>
              <a:t>Test-set estimate, not a realized alert count -- launching week of Aug 10,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377440"/>
            <a:ext cx="4645152" cy="141732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av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523744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0" y="2871216"/>
            <a:ext cx="4187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0A1726"/>
                </a:solidFill>
                <a:latin typeface="Archivo"/>
              </a:rPr>
              <a:t>EEZ entries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145536"/>
            <a:ext cx="418795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2D323F"/>
                </a:solidFill>
                <a:latin typeface="Noto Sans"/>
              </a:rPr>
              <a:t>Vessel entries into exclusive economic zones of Arctic states.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77639"/>
            <a:ext cx="4645152" cy="1417320"/>
          </a:xfrm>
          <a:prstGeom prst="roundRect">
            <a:avLst>
              <a:gd name="adj" fmla="val 6000"/>
            </a:avLst>
          </a:prstGeom>
          <a:solidFill>
            <a:srgbClr val="ED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ig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123944"/>
            <a:ext cx="351895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0" y="4471416"/>
            <a:ext cx="4187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0A1726"/>
                </a:solidFill>
                <a:latin typeface="Archivo"/>
              </a:rPr>
              <a:t>Dark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745736"/>
            <a:ext cx="418795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2D323F"/>
                </a:solidFill>
                <a:latin typeface="Noto Sans"/>
              </a:rPr>
              <a:t>AIS/transponder signal loss for medium- and high-risk vessels.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1">
                <a:solidFill>
                  <a:srgbClr val="8B99A2"/>
                </a:solidFill>
                <a:latin typeface="Noto Sans"/>
              </a:rPr>
              <a:t>Split by risk tier (medium vs. high) not yet available from the test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0" i="0">
                <a:solidFill>
                  <a:srgbClr val="FFFFFF"/>
                </a:solidFill>
                <a:latin typeface="Archivo"/>
              </a:rPr>
              <a:t>What's next</a:t>
            </a:r>
          </a:p>
        </p:txBody>
      </p:sp>
      <p:pic>
        <p:nvPicPr>
          <p:cNvPr id="4" name="Picture 3" descr="horizontal-rever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00800"/>
            <a:ext cx="1569631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6400800"/>
            <a:ext cx="5788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Noto Sans"/>
              </a:rPr>
              <a:t>Dataminr® Proprietary Information. ©2026 All rights reserved.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08792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42900" indent="-228600">
              <a:spcAft>
                <a:spcPts val="800"/>
              </a:spcAft>
              <a:buChar char="•"/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Launch MAV and Arctic alerting</a:t>
            </a:r>
            <a:r>
              <a:rPr sz="1800" b="0" i="0">
                <a:solidFill>
                  <a:srgbClr val="FFFFFF"/>
                </a:solidFill>
                <a:latin typeface="Noto Sans"/>
              </a:rPr>
              <a:t> and replace projected volume with realized coverage.</a:t>
            </a:r>
          </a:p>
          <a:p>
            <a:pPr marL="342900" indent="-228600">
              <a:spcAft>
                <a:spcPts val="800"/>
              </a:spcAft>
              <a:buChar char="•"/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Cross-check Vessels of Interest/Hormuz volume</a:t>
            </a:r>
            <a:r>
              <a:rPr sz="1800" b="0" i="0">
                <a:solidFill>
                  <a:srgbClr val="FFFFFF"/>
                </a:solidFill>
                <a:latin typeface="Noto Sans"/>
              </a:rPr>
              <a:t> against OFAC/EU designation dates and Epic Fury escalation timing.</a:t>
            </a:r>
          </a:p>
          <a:p>
            <a:pPr marL="342900" indent="-228600">
              <a:spcAft>
                <a:spcPts val="800"/>
              </a:spcAft>
              <a:buChar char="•"/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Fold in Windward-sourced leads</a:t>
            </a:r>
            <a:r>
              <a:rPr sz="1800" b="0" i="0">
                <a:solidFill>
                  <a:srgbClr val="FFFFFF"/>
                </a:solidFill>
                <a:latin typeface="Noto Sans"/>
              </a:rPr>
              <a:t> as a validation case study once specific examples are confirmed.</a:t>
            </a:r>
          </a:p>
          <a:p>
            <a:pPr marL="342900" indent="-228600">
              <a:spcAft>
                <a:spcPts val="800"/>
              </a:spcAft>
              <a:buChar char="•"/>
            </a:pPr>
            <a:r>
              <a:rPr sz="1800" b="1" i="0">
                <a:solidFill>
                  <a:srgbClr val="FFFFFF"/>
                </a:solidFill>
                <a:latin typeface="Noto Sans"/>
              </a:rPr>
              <a:t>Scope the generalize-and-globalize project</a:t>
            </a:r>
            <a:r>
              <a:rPr sz="1800" b="0" i="0">
                <a:solidFill>
                  <a:srgbClr val="FFFFFF"/>
                </a:solidFill>
                <a:latin typeface="Noto Sans"/>
              </a:rPr>
              <a:t> for existing alert themes -- not yet started.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